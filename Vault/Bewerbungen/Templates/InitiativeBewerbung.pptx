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Lst>
  <p:sldSz cx="7556500" cy="10693400"/>
  <p:notesSz cx="6858000" cy="9144000"/>
  <p:embeddedFontLst>
    <p:embeddedFont>
      <p:font typeface="Gilda Display" panose="020B0604020202020204" charset="0"/>
      <p:regular r:id="rId7"/>
    </p:embeddedFont>
    <p:embeddedFont>
      <p:font typeface="Inter" panose="020B0604020202020204" charset="0"/>
      <p:regular r:id="rId8"/>
    </p:embeddedFont>
    <p:embeddedFont>
      <p:font typeface="Inter Bold"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0" d="100"/>
          <a:sy n="100" d="100"/>
        </p:scale>
        <p:origin x="2418" y="-1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555427" y="487740"/>
            <a:ext cx="4182996" cy="1353319"/>
          </a:xfrm>
          <a:prstGeom prst="rect">
            <a:avLst/>
          </a:prstGeom>
        </p:spPr>
        <p:txBody>
          <a:bodyPr lIns="0" tIns="0" rIns="0" bIns="0" rtlCol="0" anchor="t">
            <a:spAutoFit/>
          </a:bodyPr>
          <a:lstStyle/>
          <a:p>
            <a:pPr algn="l">
              <a:lnSpc>
                <a:spcPts val="5323"/>
              </a:lnSpc>
            </a:pPr>
            <a:r>
              <a:rPr lang="de-DE" sz="4399" noProof="0" dirty="0">
                <a:solidFill>
                  <a:srgbClr val="4D4B44"/>
                </a:solidFill>
                <a:latin typeface="Gilda Display"/>
                <a:ea typeface="Gilda Display"/>
                <a:cs typeface="Gilda Display"/>
                <a:sym typeface="Gilda Display"/>
              </a:rPr>
              <a:t>Erlind Sejdiu</a:t>
            </a:r>
          </a:p>
          <a:p>
            <a:pPr algn="l">
              <a:lnSpc>
                <a:spcPts val="5323"/>
              </a:lnSpc>
            </a:pPr>
            <a:endParaRPr lang="de-DE" sz="4399" noProof="0" dirty="0">
              <a:solidFill>
                <a:srgbClr val="4D4B44"/>
              </a:solidFill>
              <a:latin typeface="Gilda Display"/>
              <a:ea typeface="Gilda Display"/>
              <a:cs typeface="Gilda Display"/>
              <a:sym typeface="Gilda Display"/>
            </a:endParaRPr>
          </a:p>
        </p:txBody>
      </p:sp>
      <p:sp>
        <p:nvSpPr>
          <p:cNvPr id="3" name="TextBox 3"/>
          <p:cNvSpPr txBox="1"/>
          <p:nvPr/>
        </p:nvSpPr>
        <p:spPr>
          <a:xfrm>
            <a:off x="555427" y="1163619"/>
            <a:ext cx="4192521" cy="907415"/>
          </a:xfrm>
          <a:prstGeom prst="rect">
            <a:avLst/>
          </a:prstGeom>
        </p:spPr>
        <p:txBody>
          <a:bodyPr lIns="0" tIns="0" rIns="0" bIns="0" rtlCol="0" anchor="t">
            <a:spAutoFit/>
          </a:bodyPr>
          <a:lstStyle/>
          <a:p>
            <a:pPr algn="l">
              <a:lnSpc>
                <a:spcPts val="1435"/>
              </a:lnSpc>
              <a:spcBef>
                <a:spcPct val="0"/>
              </a:spcBef>
            </a:pPr>
            <a:r>
              <a:rPr lang="de-DE" sz="1025" noProof="0" dirty="0">
                <a:solidFill>
                  <a:srgbClr val="4D4B44"/>
                </a:solidFill>
                <a:latin typeface="Inter"/>
                <a:ea typeface="Inter"/>
                <a:cs typeface="Inter"/>
                <a:sym typeface="Inter"/>
              </a:rPr>
              <a:t>Ein strategischer und kooperativer Informatikstudent mit grenzenloser Eigeninitiative. Ausgezeichnet im Planen und Umsetzen von Software-Projekten durch agile Methoden. Spezialisiert</a:t>
            </a:r>
            <a:r>
              <a:rPr lang="de-DE" sz="1025" dirty="0">
                <a:solidFill>
                  <a:srgbClr val="4D4B44"/>
                </a:solidFill>
                <a:latin typeface="Inter"/>
                <a:ea typeface="Inter"/>
                <a:cs typeface="Inter"/>
                <a:sym typeface="Inter"/>
              </a:rPr>
              <a:t> auf </a:t>
            </a:r>
            <a:r>
              <a:rPr lang="de-DE" sz="1025" noProof="0" dirty="0">
                <a:solidFill>
                  <a:srgbClr val="4D4B44"/>
                </a:solidFill>
                <a:latin typeface="Inter"/>
                <a:ea typeface="Inter"/>
                <a:cs typeface="Inter"/>
                <a:sym typeface="Inter"/>
              </a:rPr>
              <a:t>der Entwicklung von </a:t>
            </a:r>
            <a:r>
              <a:rPr lang="de-DE" sz="1025" dirty="0">
                <a:solidFill>
                  <a:srgbClr val="4D4B44"/>
                </a:solidFill>
                <a:latin typeface="Inter"/>
                <a:ea typeface="Inter"/>
                <a:cs typeface="Inter"/>
                <a:sym typeface="Inter"/>
              </a:rPr>
              <a:t>E</a:t>
            </a:r>
            <a:r>
              <a:rPr lang="de-DE" sz="1025" noProof="0" dirty="0" err="1">
                <a:solidFill>
                  <a:srgbClr val="4D4B44"/>
                </a:solidFill>
                <a:latin typeface="Inter"/>
                <a:ea typeface="Inter"/>
                <a:cs typeface="Inter"/>
                <a:sym typeface="Inter"/>
              </a:rPr>
              <a:t>mbedded</a:t>
            </a:r>
            <a:r>
              <a:rPr lang="de-DE" sz="1025" dirty="0">
                <a:solidFill>
                  <a:srgbClr val="4D4B44"/>
                </a:solidFill>
                <a:latin typeface="Inter"/>
                <a:ea typeface="Inter"/>
                <a:cs typeface="Inter"/>
                <a:sym typeface="Inter"/>
              </a:rPr>
              <a:t>-</a:t>
            </a:r>
            <a:r>
              <a:rPr lang="de-DE" sz="1025" noProof="0" dirty="0">
                <a:solidFill>
                  <a:srgbClr val="4D4B44"/>
                </a:solidFill>
                <a:latin typeface="Inter"/>
                <a:ea typeface="Inter"/>
                <a:cs typeface="Inter"/>
                <a:sym typeface="Inter"/>
              </a:rPr>
              <a:t>Software, Anwendungssoftware und Design Patterns.</a:t>
            </a:r>
          </a:p>
        </p:txBody>
      </p:sp>
      <p:sp>
        <p:nvSpPr>
          <p:cNvPr id="4" name="AutoShape 4"/>
          <p:cNvSpPr/>
          <p:nvPr/>
        </p:nvSpPr>
        <p:spPr>
          <a:xfrm>
            <a:off x="-403855" y="2527300"/>
            <a:ext cx="8019039" cy="0"/>
          </a:xfrm>
          <a:prstGeom prst="line">
            <a:avLst/>
          </a:prstGeom>
          <a:ln w="9525" cap="rnd">
            <a:solidFill>
              <a:srgbClr val="4D4B44"/>
            </a:solidFill>
            <a:prstDash val="solid"/>
            <a:headEnd type="none" w="sm" len="sm"/>
            <a:tailEnd type="none" w="sm" len="sm"/>
          </a:ln>
        </p:spPr>
        <p:txBody>
          <a:bodyPr/>
          <a:lstStyle/>
          <a:p>
            <a:endParaRPr lang="de-DE"/>
          </a:p>
        </p:txBody>
      </p:sp>
      <p:sp>
        <p:nvSpPr>
          <p:cNvPr id="8" name="AutoShape 8"/>
          <p:cNvSpPr/>
          <p:nvPr/>
        </p:nvSpPr>
        <p:spPr>
          <a:xfrm flipV="1">
            <a:off x="442057" y="3534580"/>
            <a:ext cx="4915" cy="4108037"/>
          </a:xfrm>
          <a:prstGeom prst="line">
            <a:avLst/>
          </a:prstGeom>
          <a:ln w="9525" cap="flat">
            <a:solidFill>
              <a:srgbClr val="4D4B44"/>
            </a:solidFill>
            <a:prstDash val="solid"/>
            <a:headEnd type="none" w="sm" len="sm"/>
            <a:tailEnd type="none" w="sm" len="sm"/>
          </a:ln>
        </p:spPr>
        <p:txBody>
          <a:bodyPr/>
          <a:lstStyle/>
          <a:p>
            <a:endParaRPr lang="de-DE"/>
          </a:p>
        </p:txBody>
      </p:sp>
      <p:grpSp>
        <p:nvGrpSpPr>
          <p:cNvPr id="9" name="Group 9"/>
          <p:cNvGrpSpPr/>
          <p:nvPr/>
        </p:nvGrpSpPr>
        <p:grpSpPr>
          <a:xfrm>
            <a:off x="404109" y="3448857"/>
            <a:ext cx="85725" cy="85725"/>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11" name="Group 11"/>
          <p:cNvGrpSpPr/>
          <p:nvPr/>
        </p:nvGrpSpPr>
        <p:grpSpPr>
          <a:xfrm>
            <a:off x="404109" y="4878942"/>
            <a:ext cx="85725" cy="85725"/>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13" name="Group 13"/>
          <p:cNvGrpSpPr/>
          <p:nvPr/>
        </p:nvGrpSpPr>
        <p:grpSpPr>
          <a:xfrm>
            <a:off x="406346" y="6502612"/>
            <a:ext cx="85725" cy="85725"/>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15" name="TextBox 15"/>
          <p:cNvSpPr txBox="1"/>
          <p:nvPr/>
        </p:nvSpPr>
        <p:spPr>
          <a:xfrm>
            <a:off x="4506781" y="5269635"/>
            <a:ext cx="2600510" cy="1320683"/>
          </a:xfrm>
          <a:prstGeom prst="rect">
            <a:avLst/>
          </a:prstGeom>
        </p:spPr>
        <p:txBody>
          <a:bodyPr lIns="0" tIns="0" rIns="0" bIns="0" rtlCol="0" anchor="t">
            <a:spAutoFit/>
          </a:bodyPr>
          <a:lstStyle/>
          <a:p>
            <a:pPr algn="l">
              <a:lnSpc>
                <a:spcPts val="1330"/>
              </a:lnSpc>
            </a:pPr>
            <a:r>
              <a:rPr lang="de-DE" sz="950" b="1" noProof="0" dirty="0">
                <a:solidFill>
                  <a:srgbClr val="4D4B44"/>
                </a:solidFill>
                <a:latin typeface="Inter Bold"/>
                <a:ea typeface="Inter Bold"/>
                <a:cs typeface="Inter Bold"/>
                <a:sym typeface="Inter Bold"/>
              </a:rPr>
              <a:t>Teil der Fachschaft Technik</a:t>
            </a:r>
          </a:p>
          <a:p>
            <a:pPr algn="l">
              <a:lnSpc>
                <a:spcPts val="1330"/>
              </a:lnSpc>
            </a:pPr>
            <a:r>
              <a:rPr lang="de-DE" sz="950" noProof="0" dirty="0">
                <a:solidFill>
                  <a:srgbClr val="4D4B44"/>
                </a:solidFill>
                <a:latin typeface="Inter"/>
                <a:ea typeface="Inter"/>
                <a:cs typeface="Inter"/>
                <a:sym typeface="Inter"/>
              </a:rPr>
              <a:t>Organisieren und Planen unterschiedlicher Events für Studenten. </a:t>
            </a:r>
          </a:p>
          <a:p>
            <a:pPr algn="l">
              <a:lnSpc>
                <a:spcPts val="1330"/>
              </a:lnSpc>
            </a:pPr>
            <a:r>
              <a:rPr lang="de-DE" sz="950" b="1" noProof="0" dirty="0">
                <a:solidFill>
                  <a:srgbClr val="4D4B44"/>
                </a:solidFill>
                <a:latin typeface="Inter Bold"/>
                <a:ea typeface="Inter Bold"/>
                <a:cs typeface="Inter Bold"/>
                <a:sym typeface="Inter Bold"/>
              </a:rPr>
              <a:t>Teil des Studierendenrat</a:t>
            </a:r>
          </a:p>
          <a:p>
            <a:pPr algn="l">
              <a:lnSpc>
                <a:spcPts val="1330"/>
              </a:lnSpc>
            </a:pPr>
            <a:r>
              <a:rPr lang="de-DE" sz="950" noProof="0" dirty="0">
                <a:solidFill>
                  <a:srgbClr val="4D4B44"/>
                </a:solidFill>
                <a:latin typeface="Inter"/>
                <a:ea typeface="Inter"/>
                <a:cs typeface="Inter"/>
                <a:sym typeface="Inter"/>
              </a:rPr>
              <a:t>Vertreten von Interessen und das Organisieren von Veranstaltungen.</a:t>
            </a:r>
          </a:p>
          <a:p>
            <a:pPr algn="l">
              <a:lnSpc>
                <a:spcPts val="1330"/>
              </a:lnSpc>
            </a:pPr>
            <a:endParaRPr lang="de-DE" sz="950" noProof="0" dirty="0">
              <a:solidFill>
                <a:srgbClr val="4D4B44"/>
              </a:solidFill>
              <a:latin typeface="Inter"/>
              <a:ea typeface="Inter"/>
              <a:cs typeface="Inter"/>
              <a:sym typeface="Inter"/>
            </a:endParaRPr>
          </a:p>
          <a:p>
            <a:pPr algn="l">
              <a:lnSpc>
                <a:spcPts val="1330"/>
              </a:lnSpc>
            </a:pPr>
            <a:endParaRPr lang="de-DE" sz="950" noProof="0" dirty="0">
              <a:solidFill>
                <a:srgbClr val="4D4B44"/>
              </a:solidFill>
              <a:latin typeface="Inter"/>
              <a:ea typeface="Inter"/>
              <a:cs typeface="Inter"/>
              <a:sym typeface="Inter"/>
            </a:endParaRPr>
          </a:p>
        </p:txBody>
      </p:sp>
      <p:sp>
        <p:nvSpPr>
          <p:cNvPr id="16" name="AutoShape 16"/>
          <p:cNvSpPr/>
          <p:nvPr/>
        </p:nvSpPr>
        <p:spPr>
          <a:xfrm flipV="1">
            <a:off x="4244381" y="3598090"/>
            <a:ext cx="10116" cy="798723"/>
          </a:xfrm>
          <a:prstGeom prst="line">
            <a:avLst/>
          </a:prstGeom>
          <a:ln w="9525" cap="flat">
            <a:solidFill>
              <a:srgbClr val="4D4B44"/>
            </a:solidFill>
            <a:prstDash val="solid"/>
            <a:headEnd type="none" w="sm" len="sm"/>
            <a:tailEnd type="none" w="sm" len="sm"/>
          </a:ln>
        </p:spPr>
        <p:txBody>
          <a:bodyPr/>
          <a:lstStyle/>
          <a:p>
            <a:endParaRPr lang="de-DE"/>
          </a:p>
        </p:txBody>
      </p:sp>
      <p:grpSp>
        <p:nvGrpSpPr>
          <p:cNvPr id="17" name="Group 17"/>
          <p:cNvGrpSpPr/>
          <p:nvPr/>
        </p:nvGrpSpPr>
        <p:grpSpPr>
          <a:xfrm>
            <a:off x="4211635" y="3598093"/>
            <a:ext cx="85725" cy="85725"/>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21" name="TextBox 21"/>
          <p:cNvSpPr txBox="1"/>
          <p:nvPr/>
        </p:nvSpPr>
        <p:spPr>
          <a:xfrm>
            <a:off x="739870" y="3420282"/>
            <a:ext cx="3122375" cy="4474430"/>
          </a:xfrm>
          <a:prstGeom prst="rect">
            <a:avLst/>
          </a:prstGeom>
        </p:spPr>
        <p:txBody>
          <a:bodyPr lIns="0" tIns="0" rIns="0" bIns="0" rtlCol="0" anchor="t">
            <a:spAutoFit/>
          </a:bodyPr>
          <a:lstStyle/>
          <a:p>
            <a:pPr>
              <a:lnSpc>
                <a:spcPts val="1435"/>
              </a:lnSpc>
            </a:pPr>
            <a:r>
              <a:rPr lang="de-DE" sz="1025" b="1" noProof="0" dirty="0">
                <a:solidFill>
                  <a:srgbClr val="4D4B44"/>
                </a:solidFill>
                <a:latin typeface="Inter Bold"/>
                <a:ea typeface="Inter Bold"/>
                <a:cs typeface="Inter Bold"/>
                <a:sym typeface="Inter Bold"/>
              </a:rPr>
              <a:t>Praxissemester - Vector Informatik,</a:t>
            </a:r>
            <a:br>
              <a:rPr lang="de-DE" sz="1025" b="1" noProof="0" dirty="0">
                <a:solidFill>
                  <a:srgbClr val="4D4B44"/>
                </a:solidFill>
                <a:latin typeface="Inter Bold"/>
                <a:ea typeface="Inter Bold"/>
                <a:cs typeface="Inter Bold"/>
                <a:sym typeface="Inter Bold"/>
              </a:rPr>
            </a:br>
            <a:r>
              <a:rPr lang="de-DE" sz="800" noProof="0" dirty="0">
                <a:solidFill>
                  <a:srgbClr val="4D4B44"/>
                </a:solidFill>
                <a:latin typeface="Inter" panose="020B0604020202020204" charset="0"/>
                <a:ea typeface="Inter" panose="020B0604020202020204" charset="0"/>
                <a:cs typeface="Inter Bold"/>
                <a:sym typeface="Inter Bold"/>
              </a:rPr>
              <a:t>Abteilung</a:t>
            </a:r>
            <a:r>
              <a:rPr lang="de-DE" sz="800" b="1" noProof="0" dirty="0">
                <a:solidFill>
                  <a:srgbClr val="4D4B44"/>
                </a:solidFill>
                <a:latin typeface="Inter Bold"/>
                <a:ea typeface="Inter Bold"/>
                <a:cs typeface="Inter Bold"/>
                <a:sym typeface="Inter Bold"/>
              </a:rPr>
              <a:t> </a:t>
            </a:r>
            <a:r>
              <a:rPr lang="de-DE" sz="800" noProof="0" dirty="0">
                <a:solidFill>
                  <a:srgbClr val="4D4B44"/>
                </a:solidFill>
                <a:latin typeface="Inter" panose="020B0604020202020204" charset="0"/>
                <a:ea typeface="Inter" panose="020B0604020202020204" charset="0"/>
                <a:cs typeface="Inter Bold"/>
                <a:sym typeface="Inter Bold"/>
              </a:rPr>
              <a:t>Research and Development Embedded Systems</a:t>
            </a:r>
          </a:p>
          <a:p>
            <a:pPr algn="l">
              <a:lnSpc>
                <a:spcPts val="1435"/>
              </a:lnSpc>
            </a:pPr>
            <a:r>
              <a:rPr lang="de-DE" sz="1025" i="1" noProof="0" dirty="0">
                <a:solidFill>
                  <a:srgbClr val="4D4B44"/>
                </a:solidFill>
                <a:latin typeface="Inter" panose="020B0604020202020204" charset="0"/>
                <a:ea typeface="Inter" panose="020B0604020202020204" charset="0"/>
                <a:cs typeface="Inter Bold"/>
                <a:sym typeface="Inter Bold"/>
              </a:rPr>
              <a:t>Sep. 2024 – Feb. 2025</a:t>
            </a:r>
          </a:p>
          <a:p>
            <a:pPr algn="l">
              <a:lnSpc>
                <a:spcPts val="1435"/>
              </a:lnSpc>
            </a:pPr>
            <a:r>
              <a:rPr lang="de-DE" sz="1025" noProof="0" dirty="0">
                <a:solidFill>
                  <a:srgbClr val="4D4B44"/>
                </a:solidFill>
                <a:latin typeface="Inter"/>
                <a:ea typeface="Inter"/>
                <a:cs typeface="Inter"/>
                <a:sym typeface="Inter"/>
              </a:rPr>
              <a:t>Evaluation von Technologien und Standards hinsichtlich des Einsatzes im Automotive Umfeld.</a:t>
            </a:r>
          </a:p>
          <a:p>
            <a:pPr algn="l">
              <a:lnSpc>
                <a:spcPts val="1435"/>
              </a:lnSpc>
            </a:pPr>
            <a:r>
              <a:rPr lang="de-DE" sz="1025" noProof="0" dirty="0">
                <a:solidFill>
                  <a:srgbClr val="4D4B44"/>
                </a:solidFill>
                <a:latin typeface="Inter"/>
                <a:ea typeface="Inter"/>
                <a:cs typeface="Inter"/>
                <a:sym typeface="Inter"/>
              </a:rPr>
              <a:t>Aufbau und Programmierung eines Proof </a:t>
            </a:r>
            <a:r>
              <a:rPr lang="de-DE" sz="1025" noProof="0" dirty="0" err="1">
                <a:solidFill>
                  <a:srgbClr val="4D4B44"/>
                </a:solidFill>
                <a:latin typeface="Inter"/>
                <a:ea typeface="Inter"/>
                <a:cs typeface="Inter"/>
                <a:sym typeface="Inter"/>
              </a:rPr>
              <a:t>of</a:t>
            </a:r>
            <a:r>
              <a:rPr lang="de-DE" sz="1025" noProof="0" dirty="0">
                <a:solidFill>
                  <a:srgbClr val="4D4B44"/>
                </a:solidFill>
                <a:latin typeface="Inter"/>
                <a:ea typeface="Inter"/>
                <a:cs typeface="Inter"/>
                <a:sym typeface="Inter"/>
              </a:rPr>
              <a:t> Concept auf einem Automotive-tauglichen Switch.</a:t>
            </a:r>
          </a:p>
          <a:p>
            <a:pPr algn="l">
              <a:lnSpc>
                <a:spcPts val="1435"/>
              </a:lnSpc>
            </a:pPr>
            <a:endParaRPr lang="de-DE" sz="1025" noProof="0" dirty="0">
              <a:solidFill>
                <a:srgbClr val="4D4B44"/>
              </a:solidFill>
              <a:latin typeface="Inter"/>
              <a:ea typeface="Inter"/>
              <a:cs typeface="Inter"/>
              <a:sym typeface="Inter"/>
            </a:endParaRPr>
          </a:p>
          <a:p>
            <a:pPr algn="l">
              <a:lnSpc>
                <a:spcPts val="1435"/>
              </a:lnSpc>
            </a:pPr>
            <a:r>
              <a:rPr lang="de-DE" sz="1025" b="1" noProof="0" dirty="0">
                <a:solidFill>
                  <a:srgbClr val="4D4B44"/>
                </a:solidFill>
                <a:latin typeface="Inter Bold"/>
                <a:ea typeface="Inter Bold"/>
                <a:cs typeface="Inter Bold"/>
                <a:sym typeface="Inter Bold"/>
              </a:rPr>
              <a:t>Werkstudentenstelle - </a:t>
            </a:r>
            <a:r>
              <a:rPr lang="de-DE" sz="1025" b="1" noProof="0" dirty="0" err="1">
                <a:solidFill>
                  <a:srgbClr val="4D4B44"/>
                </a:solidFill>
                <a:latin typeface="Inter Bold"/>
                <a:ea typeface="Inter Bold"/>
                <a:cs typeface="Inter Bold"/>
                <a:sym typeface="Inter Bold"/>
              </a:rPr>
              <a:t>Codewerk</a:t>
            </a:r>
            <a:endParaRPr lang="de-DE" sz="1025" b="1" noProof="0" dirty="0">
              <a:solidFill>
                <a:srgbClr val="4D4B44"/>
              </a:solidFill>
              <a:latin typeface="Inter Bold"/>
              <a:ea typeface="Inter Bold"/>
              <a:cs typeface="Inter Bold"/>
              <a:sym typeface="Inter Bold"/>
            </a:endParaRPr>
          </a:p>
          <a:p>
            <a:pPr algn="l">
              <a:lnSpc>
                <a:spcPts val="1435"/>
              </a:lnSpc>
            </a:pPr>
            <a:r>
              <a:rPr lang="de-DE" sz="800" noProof="0" dirty="0" err="1">
                <a:solidFill>
                  <a:srgbClr val="4D4B44"/>
                </a:solidFill>
                <a:latin typeface="Inter" panose="020B0604020202020204" charset="0"/>
                <a:ea typeface="Inter" panose="020B0604020202020204" charset="0"/>
                <a:cs typeface="Inter Bold"/>
                <a:sym typeface="Inter Bold"/>
              </a:rPr>
              <a:t>Cybersecurity</a:t>
            </a:r>
            <a:r>
              <a:rPr lang="de-DE" sz="800" dirty="0">
                <a:solidFill>
                  <a:srgbClr val="4D4B44"/>
                </a:solidFill>
                <a:latin typeface="Inter" panose="020B0604020202020204" charset="0"/>
                <a:ea typeface="Inter" panose="020B0604020202020204" charset="0"/>
                <a:cs typeface="Inter Bold"/>
                <a:sym typeface="Inter Bold"/>
              </a:rPr>
              <a:t>-</a:t>
            </a:r>
            <a:r>
              <a:rPr lang="de-DE" sz="800" noProof="0" dirty="0">
                <a:solidFill>
                  <a:srgbClr val="4D4B44"/>
                </a:solidFill>
                <a:latin typeface="Inter" panose="020B0604020202020204" charset="0"/>
                <a:ea typeface="Inter" panose="020B0604020202020204" charset="0"/>
                <a:cs typeface="Inter Bold"/>
                <a:sym typeface="Inter Bold"/>
              </a:rPr>
              <a:t>Abteilung </a:t>
            </a:r>
          </a:p>
          <a:p>
            <a:pPr algn="l">
              <a:lnSpc>
                <a:spcPts val="1435"/>
              </a:lnSpc>
            </a:pPr>
            <a:r>
              <a:rPr lang="de-DE" sz="1025" i="1" noProof="0" dirty="0">
                <a:solidFill>
                  <a:srgbClr val="4D4B44"/>
                </a:solidFill>
                <a:latin typeface="Inter" panose="020B0604020202020204" charset="0"/>
                <a:ea typeface="Inter" panose="020B0604020202020204" charset="0"/>
                <a:cs typeface="Inter Bold"/>
                <a:sym typeface="Inter Bold"/>
              </a:rPr>
              <a:t>Jul. 2023 – Feb. 2024</a:t>
            </a:r>
          </a:p>
          <a:p>
            <a:pPr algn="l">
              <a:lnSpc>
                <a:spcPts val="1435"/>
              </a:lnSpc>
            </a:pPr>
            <a:r>
              <a:rPr lang="de-DE" sz="1025" noProof="0" dirty="0">
                <a:solidFill>
                  <a:srgbClr val="4D4B44"/>
                </a:solidFill>
                <a:latin typeface="Inter"/>
                <a:ea typeface="Inter"/>
                <a:cs typeface="Inter"/>
                <a:sym typeface="Inter"/>
              </a:rPr>
              <a:t>Erstellung eines Dashboards in </a:t>
            </a:r>
            <a:r>
              <a:rPr lang="de-DE" sz="1025" noProof="0" dirty="0" err="1">
                <a:solidFill>
                  <a:srgbClr val="4D4B44"/>
                </a:solidFill>
                <a:latin typeface="Inter"/>
                <a:ea typeface="Inter"/>
                <a:cs typeface="Inter"/>
                <a:sym typeface="Inter"/>
              </a:rPr>
              <a:t>Kibana</a:t>
            </a:r>
            <a:r>
              <a:rPr lang="de-DE" sz="1025" noProof="0" dirty="0">
                <a:solidFill>
                  <a:srgbClr val="4D4B44"/>
                </a:solidFill>
                <a:latin typeface="Inter"/>
                <a:ea typeface="Inter"/>
                <a:cs typeface="Inter"/>
                <a:sym typeface="Inter"/>
              </a:rPr>
              <a:t>.</a:t>
            </a:r>
          </a:p>
          <a:p>
            <a:pPr algn="l">
              <a:lnSpc>
                <a:spcPts val="1435"/>
              </a:lnSpc>
            </a:pPr>
            <a:r>
              <a:rPr lang="de-DE" sz="1025" noProof="0" dirty="0">
                <a:solidFill>
                  <a:srgbClr val="4D4B44"/>
                </a:solidFill>
                <a:latin typeface="Inter"/>
                <a:ea typeface="Inter"/>
                <a:cs typeface="Inter"/>
                <a:sym typeface="Inter"/>
              </a:rPr>
              <a:t>Entwicklung eines </a:t>
            </a:r>
            <a:r>
              <a:rPr lang="de-DE" sz="1025" noProof="0" dirty="0" err="1">
                <a:solidFill>
                  <a:srgbClr val="4D4B44"/>
                </a:solidFill>
                <a:latin typeface="Inter"/>
                <a:ea typeface="Inter"/>
                <a:cs typeface="Inter"/>
                <a:sym typeface="Inter"/>
              </a:rPr>
              <a:t>Fuzzers</a:t>
            </a:r>
            <a:r>
              <a:rPr lang="de-DE" sz="1025" noProof="0" dirty="0">
                <a:solidFill>
                  <a:srgbClr val="4D4B44"/>
                </a:solidFill>
                <a:latin typeface="Inter"/>
                <a:ea typeface="Inter"/>
                <a:cs typeface="Inter"/>
                <a:sym typeface="Inter"/>
              </a:rPr>
              <a:t> für </a:t>
            </a:r>
            <a:r>
              <a:rPr lang="de-DE" sz="1025" noProof="0" dirty="0" err="1">
                <a:solidFill>
                  <a:srgbClr val="4D4B44"/>
                </a:solidFill>
                <a:latin typeface="Inter"/>
                <a:ea typeface="Inter"/>
                <a:cs typeface="Inter"/>
                <a:sym typeface="Inter"/>
              </a:rPr>
              <a:t>Graphical</a:t>
            </a:r>
            <a:r>
              <a:rPr lang="de-DE" sz="1025" noProof="0" dirty="0">
                <a:solidFill>
                  <a:srgbClr val="4D4B44"/>
                </a:solidFill>
                <a:latin typeface="Inter"/>
                <a:ea typeface="Inter"/>
                <a:cs typeface="Inter"/>
                <a:sym typeface="Inter"/>
              </a:rPr>
              <a:t> User Interfaces mithilfe von </a:t>
            </a:r>
            <a:r>
              <a:rPr lang="de-DE" sz="1025" noProof="0" dirty="0" err="1">
                <a:solidFill>
                  <a:srgbClr val="4D4B44"/>
                </a:solidFill>
                <a:latin typeface="Inter"/>
                <a:ea typeface="Inter"/>
                <a:cs typeface="Inter"/>
                <a:sym typeface="Inter"/>
              </a:rPr>
              <a:t>Radamsa</a:t>
            </a:r>
            <a:r>
              <a:rPr lang="de-DE" sz="1025" noProof="0" dirty="0">
                <a:solidFill>
                  <a:srgbClr val="4D4B44"/>
                </a:solidFill>
                <a:latin typeface="Inter"/>
                <a:ea typeface="Inter"/>
                <a:cs typeface="Inter"/>
                <a:sym typeface="Inter"/>
              </a:rPr>
              <a:t>.</a:t>
            </a:r>
          </a:p>
          <a:p>
            <a:pPr algn="l">
              <a:lnSpc>
                <a:spcPts val="1435"/>
              </a:lnSpc>
            </a:pPr>
            <a:r>
              <a:rPr lang="de-DE" sz="1025" noProof="0" dirty="0">
                <a:solidFill>
                  <a:srgbClr val="4D4B44"/>
                </a:solidFill>
                <a:latin typeface="Inter"/>
                <a:ea typeface="Inter"/>
                <a:cs typeface="Inter"/>
                <a:sym typeface="Inter"/>
              </a:rPr>
              <a:t>Praktische Erfahrung im Umgang mit Docker und Docker-</a:t>
            </a:r>
            <a:r>
              <a:rPr lang="de-DE" sz="1025" noProof="0" dirty="0" err="1">
                <a:solidFill>
                  <a:srgbClr val="4D4B44"/>
                </a:solidFill>
                <a:latin typeface="Inter"/>
                <a:ea typeface="Inter"/>
                <a:cs typeface="Inter"/>
                <a:sym typeface="Inter"/>
              </a:rPr>
              <a:t>Compose</a:t>
            </a:r>
            <a:r>
              <a:rPr lang="de-DE" sz="1025" noProof="0" dirty="0">
                <a:solidFill>
                  <a:srgbClr val="4D4B44"/>
                </a:solidFill>
                <a:latin typeface="Inter"/>
                <a:ea typeface="Inter"/>
                <a:cs typeface="Inter"/>
                <a:sym typeface="Inter"/>
              </a:rPr>
              <a:t>.</a:t>
            </a:r>
          </a:p>
          <a:p>
            <a:pPr algn="l">
              <a:lnSpc>
                <a:spcPts val="1435"/>
              </a:lnSpc>
            </a:pPr>
            <a:endParaRPr lang="de-DE" sz="1025" b="1" noProof="0" dirty="0">
              <a:solidFill>
                <a:srgbClr val="4D4B44"/>
              </a:solidFill>
              <a:latin typeface="Inter Bold"/>
              <a:ea typeface="Inter Bold"/>
              <a:cs typeface="Inter Bold"/>
              <a:sym typeface="Inter Bold"/>
            </a:endParaRPr>
          </a:p>
          <a:p>
            <a:pPr algn="l">
              <a:lnSpc>
                <a:spcPts val="1435"/>
              </a:lnSpc>
            </a:pPr>
            <a:r>
              <a:rPr lang="de-DE" sz="1025" b="1" noProof="0" dirty="0">
                <a:solidFill>
                  <a:srgbClr val="4D4B44"/>
                </a:solidFill>
                <a:latin typeface="Inter Bold"/>
                <a:ea typeface="Inter Bold"/>
                <a:cs typeface="Inter Bold"/>
                <a:sym typeface="Inter Bold"/>
              </a:rPr>
              <a:t>Wissenschaftliche Hilfskraft</a:t>
            </a:r>
          </a:p>
          <a:p>
            <a:pPr algn="l">
              <a:lnSpc>
                <a:spcPts val="1435"/>
              </a:lnSpc>
            </a:pPr>
            <a:r>
              <a:rPr lang="de-DE" sz="800" dirty="0">
                <a:solidFill>
                  <a:srgbClr val="4D4B44"/>
                </a:solidFill>
                <a:latin typeface="Inter" panose="020B0604020202020204" charset="0"/>
                <a:ea typeface="Inter" panose="020B0604020202020204" charset="0"/>
                <a:cs typeface="Inter Bold"/>
                <a:sym typeface="Inter Bold"/>
              </a:rPr>
              <a:t>Softwareentwicklung &amp; Software Engineering 2</a:t>
            </a:r>
          </a:p>
          <a:p>
            <a:pPr algn="l">
              <a:lnSpc>
                <a:spcPts val="1435"/>
              </a:lnSpc>
            </a:pPr>
            <a:r>
              <a:rPr lang="de-DE" sz="1025" i="1" dirty="0">
                <a:solidFill>
                  <a:srgbClr val="4D4B44"/>
                </a:solidFill>
                <a:latin typeface="Inter" panose="020B0604020202020204" charset="0"/>
                <a:ea typeface="Inter" panose="020B0604020202020204" charset="0"/>
                <a:cs typeface="Inter Bold"/>
                <a:sym typeface="Inter Bold"/>
              </a:rPr>
              <a:t>Feb</a:t>
            </a:r>
            <a:r>
              <a:rPr lang="de-DE" sz="1025" i="1" noProof="0" dirty="0">
                <a:solidFill>
                  <a:srgbClr val="4D4B44"/>
                </a:solidFill>
                <a:latin typeface="Inter" panose="020B0604020202020204" charset="0"/>
                <a:ea typeface="Inter" panose="020B0604020202020204" charset="0"/>
                <a:cs typeface="Inter Bold"/>
                <a:sym typeface="Inter Bold"/>
              </a:rPr>
              <a:t>. 2023 – Jun. 2023, Feb. 2025 – Jun. 2025</a:t>
            </a:r>
          </a:p>
          <a:p>
            <a:pPr algn="l">
              <a:lnSpc>
                <a:spcPts val="1435"/>
              </a:lnSpc>
            </a:pPr>
            <a:r>
              <a:rPr lang="de-DE" sz="1025" noProof="0" dirty="0">
                <a:solidFill>
                  <a:srgbClr val="4D4B44"/>
                </a:solidFill>
                <a:latin typeface="Inter"/>
                <a:ea typeface="Inter"/>
                <a:cs typeface="Inter"/>
                <a:sym typeface="Inter"/>
              </a:rPr>
              <a:t>Unterstützung von Studierenden beim Ausbau ihrer Programmierfähigkeiten.</a:t>
            </a:r>
          </a:p>
          <a:p>
            <a:pPr algn="l">
              <a:lnSpc>
                <a:spcPts val="1435"/>
              </a:lnSpc>
            </a:pPr>
            <a:r>
              <a:rPr lang="de-DE" sz="1025" noProof="0" dirty="0">
                <a:solidFill>
                  <a:srgbClr val="4D4B44"/>
                </a:solidFill>
                <a:latin typeface="Inter"/>
                <a:ea typeface="Inter"/>
                <a:cs typeface="Inter"/>
                <a:sym typeface="Inter"/>
              </a:rPr>
              <a:t>Unterstützung von Studierenden beim Implementieren von Software</a:t>
            </a:r>
            <a:r>
              <a:rPr lang="de-DE" sz="1025" dirty="0">
                <a:solidFill>
                  <a:srgbClr val="4D4B44"/>
                </a:solidFill>
                <a:latin typeface="Inter"/>
                <a:ea typeface="Inter"/>
                <a:cs typeface="Inter"/>
                <a:sym typeface="Inter"/>
              </a:rPr>
              <a:t>-</a:t>
            </a:r>
            <a:r>
              <a:rPr lang="de-DE" sz="1025" noProof="0" dirty="0">
                <a:solidFill>
                  <a:srgbClr val="4D4B44"/>
                </a:solidFill>
                <a:latin typeface="Inter"/>
                <a:ea typeface="Inter"/>
                <a:cs typeface="Inter"/>
                <a:sym typeface="Inter"/>
              </a:rPr>
              <a:t>Tests.</a:t>
            </a:r>
          </a:p>
          <a:p>
            <a:pPr algn="l">
              <a:lnSpc>
                <a:spcPts val="1435"/>
              </a:lnSpc>
            </a:pPr>
            <a:endParaRPr lang="de-DE" sz="1025" noProof="0" dirty="0">
              <a:solidFill>
                <a:srgbClr val="4D4B44"/>
              </a:solidFill>
              <a:latin typeface="Inter"/>
              <a:ea typeface="Inter"/>
              <a:cs typeface="Inter"/>
              <a:sym typeface="Inter"/>
            </a:endParaRPr>
          </a:p>
        </p:txBody>
      </p:sp>
      <p:sp>
        <p:nvSpPr>
          <p:cNvPr id="22" name="TextBox 22"/>
          <p:cNvSpPr txBox="1"/>
          <p:nvPr/>
        </p:nvSpPr>
        <p:spPr>
          <a:xfrm>
            <a:off x="394584" y="2991177"/>
            <a:ext cx="2225728"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Arbeitserfahrung</a:t>
            </a:r>
          </a:p>
        </p:txBody>
      </p:sp>
      <p:sp>
        <p:nvSpPr>
          <p:cNvPr id="23" name="TextBox 23"/>
          <p:cNvSpPr txBox="1"/>
          <p:nvPr/>
        </p:nvSpPr>
        <p:spPr>
          <a:xfrm>
            <a:off x="4516897" y="3570330"/>
            <a:ext cx="2630871" cy="1063240"/>
          </a:xfrm>
          <a:prstGeom prst="rect">
            <a:avLst/>
          </a:prstGeom>
        </p:spPr>
        <p:txBody>
          <a:bodyPr lIns="0" tIns="0" rIns="0" bIns="0" rtlCol="0" anchor="t">
            <a:spAutoFit/>
          </a:bodyPr>
          <a:lstStyle/>
          <a:p>
            <a:pPr algn="l">
              <a:lnSpc>
                <a:spcPts val="1435"/>
              </a:lnSpc>
            </a:pPr>
            <a:r>
              <a:rPr lang="de-DE" sz="1025" b="1" noProof="0" dirty="0">
                <a:solidFill>
                  <a:srgbClr val="4D4B44"/>
                </a:solidFill>
                <a:latin typeface="Inter Bold"/>
                <a:ea typeface="Inter Bold"/>
                <a:cs typeface="Inter Bold"/>
                <a:sym typeface="Inter Bold"/>
              </a:rPr>
              <a:t>Hochschule Pforzheim, Technische Informatik</a:t>
            </a:r>
          </a:p>
          <a:p>
            <a:pPr algn="l">
              <a:lnSpc>
                <a:spcPts val="1435"/>
              </a:lnSpc>
            </a:pPr>
            <a:r>
              <a:rPr lang="de-DE" sz="1025" noProof="0" dirty="0">
                <a:solidFill>
                  <a:srgbClr val="4D4B44"/>
                </a:solidFill>
                <a:latin typeface="Inter"/>
                <a:ea typeface="Inter"/>
                <a:cs typeface="Inter"/>
                <a:sym typeface="Inter"/>
              </a:rPr>
              <a:t>Notendurchschnitt zum aktuellen Zeitpunkt im Grundstudium: 1.8, </a:t>
            </a:r>
          </a:p>
          <a:p>
            <a:pPr algn="l">
              <a:lnSpc>
                <a:spcPts val="1435"/>
              </a:lnSpc>
            </a:pPr>
            <a:r>
              <a:rPr lang="de-DE" sz="1025" noProof="0" dirty="0">
                <a:solidFill>
                  <a:srgbClr val="4D4B44"/>
                </a:solidFill>
                <a:latin typeface="Inter"/>
                <a:ea typeface="Inter"/>
                <a:cs typeface="Inter"/>
                <a:sym typeface="Inter"/>
              </a:rPr>
              <a:t>aktueller Durchschnitt: 1.6</a:t>
            </a:r>
          </a:p>
          <a:p>
            <a:pPr algn="l">
              <a:lnSpc>
                <a:spcPts val="1435"/>
              </a:lnSpc>
            </a:pPr>
            <a:endParaRPr lang="de-DE" sz="1025" noProof="0" dirty="0">
              <a:solidFill>
                <a:srgbClr val="4D4B44"/>
              </a:solidFill>
              <a:latin typeface="Inter"/>
              <a:ea typeface="Inter"/>
              <a:cs typeface="Inter"/>
              <a:sym typeface="Inter"/>
            </a:endParaRPr>
          </a:p>
        </p:txBody>
      </p:sp>
      <p:sp>
        <p:nvSpPr>
          <p:cNvPr id="24" name="TextBox 24"/>
          <p:cNvSpPr txBox="1"/>
          <p:nvPr/>
        </p:nvSpPr>
        <p:spPr>
          <a:xfrm>
            <a:off x="4211644" y="3146597"/>
            <a:ext cx="2936124"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Meine Ausbildung</a:t>
            </a:r>
          </a:p>
        </p:txBody>
      </p:sp>
      <p:sp>
        <p:nvSpPr>
          <p:cNvPr id="25" name="TextBox 25"/>
          <p:cNvSpPr txBox="1"/>
          <p:nvPr/>
        </p:nvSpPr>
        <p:spPr>
          <a:xfrm>
            <a:off x="4217194" y="4867645"/>
            <a:ext cx="2704153"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Freiwilligenarbeit</a:t>
            </a:r>
          </a:p>
        </p:txBody>
      </p:sp>
      <p:sp>
        <p:nvSpPr>
          <p:cNvPr id="26" name="AutoShape 26"/>
          <p:cNvSpPr/>
          <p:nvPr/>
        </p:nvSpPr>
        <p:spPr>
          <a:xfrm>
            <a:off x="-229519" y="10014603"/>
            <a:ext cx="8019039" cy="0"/>
          </a:xfrm>
          <a:prstGeom prst="line">
            <a:avLst/>
          </a:prstGeom>
          <a:ln w="9525" cap="rnd">
            <a:solidFill>
              <a:srgbClr val="4D4B44"/>
            </a:solidFill>
            <a:prstDash val="solid"/>
            <a:headEnd type="none" w="sm" len="sm"/>
            <a:tailEnd type="none" w="sm" len="sm"/>
          </a:ln>
        </p:spPr>
        <p:txBody>
          <a:bodyPr/>
          <a:lstStyle/>
          <a:p>
            <a:endParaRPr lang="de-DE"/>
          </a:p>
        </p:txBody>
      </p:sp>
      <p:sp>
        <p:nvSpPr>
          <p:cNvPr id="29" name="TextBox 29"/>
          <p:cNvSpPr txBox="1"/>
          <p:nvPr/>
        </p:nvSpPr>
        <p:spPr>
          <a:xfrm>
            <a:off x="4555440" y="7023454"/>
            <a:ext cx="2600510" cy="1987532"/>
          </a:xfrm>
          <a:prstGeom prst="rect">
            <a:avLst/>
          </a:prstGeom>
        </p:spPr>
        <p:txBody>
          <a:bodyPr lIns="0" tIns="0" rIns="0" bIns="0" rtlCol="0" anchor="t">
            <a:spAutoFit/>
          </a:bodyPr>
          <a:lstStyle/>
          <a:p>
            <a:pPr algn="l">
              <a:lnSpc>
                <a:spcPts val="1330"/>
              </a:lnSpc>
            </a:pPr>
            <a:r>
              <a:rPr lang="de-DE" sz="950" b="1" noProof="0" dirty="0">
                <a:solidFill>
                  <a:srgbClr val="4D4B44"/>
                </a:solidFill>
                <a:latin typeface="Inter Bold"/>
                <a:ea typeface="Inter Bold"/>
                <a:cs typeface="Inter Bold"/>
                <a:sym typeface="Inter Bold"/>
              </a:rPr>
              <a:t>Aktienmarkt Analysetool</a:t>
            </a:r>
          </a:p>
          <a:p>
            <a:pPr algn="l">
              <a:lnSpc>
                <a:spcPts val="1330"/>
              </a:lnSpc>
            </a:pPr>
            <a:r>
              <a:rPr lang="de-DE" sz="950" noProof="0" dirty="0">
                <a:solidFill>
                  <a:srgbClr val="4D4B44"/>
                </a:solidFill>
                <a:latin typeface="Inter"/>
                <a:ea typeface="Inter"/>
                <a:cs typeface="Inter"/>
                <a:sym typeface="Inter"/>
              </a:rPr>
              <a:t>Tool zur Simulation von unterschiedlichen Aktien zum Finden von Algorithmen. </a:t>
            </a:r>
          </a:p>
          <a:p>
            <a:pPr algn="l">
              <a:lnSpc>
                <a:spcPts val="1330"/>
              </a:lnSpc>
            </a:pPr>
            <a:r>
              <a:rPr lang="de-DE" sz="950" b="1" noProof="0" dirty="0">
                <a:solidFill>
                  <a:srgbClr val="4D4B44"/>
                </a:solidFill>
                <a:latin typeface="Inter Bold"/>
                <a:ea typeface="Inter Bold"/>
                <a:cs typeface="Inter Bold"/>
                <a:sym typeface="Inter Bold"/>
              </a:rPr>
              <a:t>Spiele-Anwendung für die </a:t>
            </a:r>
            <a:r>
              <a:rPr lang="de-DE" sz="950" b="1" noProof="0" dirty="0" err="1">
                <a:solidFill>
                  <a:srgbClr val="4D4B44"/>
                </a:solidFill>
                <a:latin typeface="Inter Bold"/>
                <a:ea typeface="Inter Bold"/>
                <a:cs typeface="Inter Bold"/>
                <a:sym typeface="Inter Bold"/>
              </a:rPr>
              <a:t>Vectrex</a:t>
            </a:r>
            <a:r>
              <a:rPr lang="de-DE" sz="950" b="1" noProof="0" dirty="0">
                <a:solidFill>
                  <a:srgbClr val="4D4B44"/>
                </a:solidFill>
                <a:latin typeface="Inter Bold"/>
                <a:ea typeface="Inter Bold"/>
                <a:cs typeface="Inter Bold"/>
                <a:sym typeface="Inter Bold"/>
              </a:rPr>
              <a:t>-Konsole</a:t>
            </a:r>
          </a:p>
          <a:p>
            <a:pPr algn="l">
              <a:lnSpc>
                <a:spcPts val="1330"/>
              </a:lnSpc>
            </a:pPr>
            <a:r>
              <a:rPr lang="de-DE" sz="950" noProof="0" dirty="0">
                <a:solidFill>
                  <a:srgbClr val="4D4B44"/>
                </a:solidFill>
                <a:latin typeface="Inter"/>
                <a:ea typeface="Inter"/>
                <a:cs typeface="Inter"/>
                <a:sym typeface="Inter"/>
              </a:rPr>
              <a:t>Entwicklung eines Gehirntrainingsspiel auf einer alten Konsole mit strengen Anforderungen.</a:t>
            </a:r>
          </a:p>
          <a:p>
            <a:pPr algn="l">
              <a:lnSpc>
                <a:spcPts val="1330"/>
              </a:lnSpc>
            </a:pPr>
            <a:r>
              <a:rPr lang="de-DE" sz="950" b="1" noProof="0" dirty="0" err="1">
                <a:solidFill>
                  <a:srgbClr val="4D4B44"/>
                </a:solidFill>
                <a:latin typeface="Inter Bold"/>
                <a:ea typeface="Inter Bold"/>
                <a:cs typeface="Inter Bold"/>
                <a:sym typeface="Inter Bold"/>
              </a:rPr>
              <a:t>Convey</a:t>
            </a:r>
            <a:r>
              <a:rPr lang="de-DE" sz="950" b="1" noProof="0" dirty="0">
                <a:solidFill>
                  <a:srgbClr val="4D4B44"/>
                </a:solidFill>
                <a:latin typeface="Inter Bold"/>
                <a:ea typeface="Inter Bold"/>
                <a:cs typeface="Inter Bold"/>
                <a:sym typeface="Inter Bold"/>
              </a:rPr>
              <a:t> Game </a:t>
            </a:r>
            <a:r>
              <a:rPr lang="de-DE" sz="950" b="1" noProof="0" dirty="0" err="1">
                <a:solidFill>
                  <a:srgbClr val="4D4B44"/>
                </a:solidFill>
                <a:latin typeface="Inter Bold"/>
                <a:ea typeface="Inter Bold"/>
                <a:cs typeface="Inter Bold"/>
                <a:sym typeface="Inter Bold"/>
              </a:rPr>
              <a:t>of</a:t>
            </a:r>
            <a:r>
              <a:rPr lang="de-DE" sz="950" b="1" noProof="0" dirty="0">
                <a:solidFill>
                  <a:srgbClr val="4D4B44"/>
                </a:solidFill>
                <a:latin typeface="Inter Bold"/>
                <a:ea typeface="Inter Bold"/>
                <a:cs typeface="Inter Bold"/>
                <a:sym typeface="Inter Bold"/>
              </a:rPr>
              <a:t> Life mit Templates</a:t>
            </a:r>
          </a:p>
          <a:p>
            <a:pPr algn="l">
              <a:lnSpc>
                <a:spcPts val="1330"/>
              </a:lnSpc>
            </a:pPr>
            <a:r>
              <a:rPr lang="de-DE" sz="950" noProof="0" dirty="0">
                <a:solidFill>
                  <a:srgbClr val="4D4B44"/>
                </a:solidFill>
                <a:latin typeface="Inter" panose="020B0604020202020204" charset="0"/>
                <a:ea typeface="Inter" panose="020B0604020202020204" charset="0"/>
                <a:cs typeface="Inter Bold"/>
                <a:sym typeface="Inter Bold"/>
              </a:rPr>
              <a:t>Ein zur </a:t>
            </a:r>
            <a:r>
              <a:rPr lang="de-DE" sz="950" noProof="0" dirty="0" err="1">
                <a:solidFill>
                  <a:srgbClr val="4D4B44"/>
                </a:solidFill>
                <a:latin typeface="Inter"/>
                <a:ea typeface="Inter"/>
                <a:cs typeface="Inter"/>
                <a:sym typeface="Inter"/>
              </a:rPr>
              <a:t>Compilezeit</a:t>
            </a:r>
            <a:r>
              <a:rPr lang="de-DE" sz="950" noProof="0" dirty="0">
                <a:solidFill>
                  <a:srgbClr val="4D4B44"/>
                </a:solidFill>
                <a:latin typeface="Inter"/>
                <a:ea typeface="Inter"/>
                <a:cs typeface="Inter"/>
                <a:sym typeface="Inter"/>
              </a:rPr>
              <a:t> fähiges </a:t>
            </a:r>
            <a:r>
              <a:rPr lang="de-DE" sz="950" noProof="0" dirty="0" err="1">
                <a:solidFill>
                  <a:srgbClr val="4D4B44"/>
                </a:solidFill>
                <a:latin typeface="Inter"/>
                <a:ea typeface="Inter"/>
                <a:cs typeface="Inter"/>
                <a:sym typeface="Inter"/>
              </a:rPr>
              <a:t>Convey</a:t>
            </a:r>
            <a:r>
              <a:rPr lang="de-DE" sz="950" noProof="0" dirty="0">
                <a:solidFill>
                  <a:srgbClr val="4D4B44"/>
                </a:solidFill>
                <a:latin typeface="Inter"/>
                <a:ea typeface="Inter"/>
                <a:cs typeface="Inter"/>
                <a:sym typeface="Inter"/>
              </a:rPr>
              <a:t> Game </a:t>
            </a:r>
            <a:r>
              <a:rPr lang="de-DE" sz="950" noProof="0" dirty="0" err="1">
                <a:solidFill>
                  <a:srgbClr val="4D4B44"/>
                </a:solidFill>
                <a:latin typeface="Inter"/>
                <a:ea typeface="Inter"/>
                <a:cs typeface="Inter"/>
                <a:sym typeface="Inter"/>
              </a:rPr>
              <a:t>of</a:t>
            </a:r>
            <a:r>
              <a:rPr lang="de-DE" sz="950" noProof="0" dirty="0">
                <a:solidFill>
                  <a:srgbClr val="4D4B44"/>
                </a:solidFill>
                <a:latin typeface="Inter"/>
                <a:ea typeface="Inter"/>
                <a:cs typeface="Inter"/>
                <a:sym typeface="Inter"/>
              </a:rPr>
              <a:t> Life entwickelt.</a:t>
            </a:r>
          </a:p>
          <a:p>
            <a:pPr algn="l">
              <a:lnSpc>
                <a:spcPts val="1330"/>
              </a:lnSpc>
            </a:pPr>
            <a:endParaRPr lang="de-DE" sz="950" noProof="0" dirty="0">
              <a:solidFill>
                <a:srgbClr val="4D4B44"/>
              </a:solidFill>
              <a:latin typeface="Inter"/>
              <a:ea typeface="Inter"/>
              <a:cs typeface="Inter"/>
              <a:sym typeface="Inter"/>
            </a:endParaRPr>
          </a:p>
          <a:p>
            <a:pPr algn="l">
              <a:lnSpc>
                <a:spcPts val="1330"/>
              </a:lnSpc>
            </a:pPr>
            <a:endParaRPr lang="de-DE" sz="950" noProof="0" dirty="0">
              <a:solidFill>
                <a:srgbClr val="4D4B44"/>
              </a:solidFill>
              <a:latin typeface="Inter"/>
              <a:ea typeface="Inter"/>
              <a:cs typeface="Inter"/>
              <a:sym typeface="Inter"/>
            </a:endParaRPr>
          </a:p>
        </p:txBody>
      </p:sp>
      <p:sp>
        <p:nvSpPr>
          <p:cNvPr id="30" name="TextBox 30"/>
          <p:cNvSpPr txBox="1"/>
          <p:nvPr/>
        </p:nvSpPr>
        <p:spPr>
          <a:xfrm>
            <a:off x="4211635" y="6601940"/>
            <a:ext cx="2704153"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Projekte</a:t>
            </a:r>
          </a:p>
        </p:txBody>
      </p:sp>
      <p:sp>
        <p:nvSpPr>
          <p:cNvPr id="31" name="AutoShape 31"/>
          <p:cNvSpPr/>
          <p:nvPr/>
        </p:nvSpPr>
        <p:spPr>
          <a:xfrm flipH="1" flipV="1">
            <a:off x="4244381" y="5313041"/>
            <a:ext cx="10116" cy="909480"/>
          </a:xfrm>
          <a:prstGeom prst="line">
            <a:avLst/>
          </a:prstGeom>
          <a:ln w="9525" cap="flat">
            <a:solidFill>
              <a:srgbClr val="4D4B44"/>
            </a:solidFill>
            <a:prstDash val="solid"/>
            <a:headEnd type="none" w="sm" len="sm"/>
            <a:tailEnd type="none" w="sm" len="sm"/>
          </a:ln>
        </p:spPr>
        <p:txBody>
          <a:bodyPr/>
          <a:lstStyle/>
          <a:p>
            <a:endParaRPr lang="de-DE"/>
          </a:p>
        </p:txBody>
      </p:sp>
      <p:grpSp>
        <p:nvGrpSpPr>
          <p:cNvPr id="32" name="Group 32"/>
          <p:cNvGrpSpPr/>
          <p:nvPr/>
        </p:nvGrpSpPr>
        <p:grpSpPr>
          <a:xfrm>
            <a:off x="4201519" y="5289795"/>
            <a:ext cx="85725" cy="85725"/>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34" name="Group 34"/>
          <p:cNvGrpSpPr/>
          <p:nvPr/>
        </p:nvGrpSpPr>
        <p:grpSpPr>
          <a:xfrm>
            <a:off x="4201519" y="5793527"/>
            <a:ext cx="85725" cy="85725"/>
            <a:chOff x="0" y="0"/>
            <a:chExt cx="6350000" cy="6350000"/>
          </a:xfrm>
        </p:grpSpPr>
        <p:sp>
          <p:nvSpPr>
            <p:cNvPr id="35" name="Freeform 3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38" name="AutoShape 38"/>
          <p:cNvSpPr/>
          <p:nvPr/>
        </p:nvSpPr>
        <p:spPr>
          <a:xfrm flipV="1">
            <a:off x="4254497" y="7091746"/>
            <a:ext cx="3130" cy="1564266"/>
          </a:xfrm>
          <a:prstGeom prst="line">
            <a:avLst/>
          </a:prstGeom>
          <a:ln w="9525" cap="flat">
            <a:solidFill>
              <a:srgbClr val="4D4B44"/>
            </a:solidFill>
            <a:prstDash val="solid"/>
            <a:headEnd type="none" w="sm" len="sm"/>
            <a:tailEnd type="none" w="sm" len="sm"/>
          </a:ln>
        </p:spPr>
        <p:txBody>
          <a:bodyPr/>
          <a:lstStyle/>
          <a:p>
            <a:endParaRPr lang="de-DE"/>
          </a:p>
        </p:txBody>
      </p:sp>
      <p:grpSp>
        <p:nvGrpSpPr>
          <p:cNvPr id="39" name="Group 39"/>
          <p:cNvGrpSpPr/>
          <p:nvPr/>
        </p:nvGrpSpPr>
        <p:grpSpPr>
          <a:xfrm>
            <a:off x="4214765" y="7091749"/>
            <a:ext cx="85725" cy="85725"/>
            <a:chOff x="0" y="0"/>
            <a:chExt cx="6350000" cy="6350000"/>
          </a:xfrm>
        </p:grpSpPr>
        <p:sp>
          <p:nvSpPr>
            <p:cNvPr id="40" name="Freeform 4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41" name="Group 41"/>
          <p:cNvGrpSpPr/>
          <p:nvPr/>
        </p:nvGrpSpPr>
        <p:grpSpPr>
          <a:xfrm>
            <a:off x="4214765" y="7556893"/>
            <a:ext cx="85725" cy="85725"/>
            <a:chOff x="0" y="0"/>
            <a:chExt cx="6350000" cy="6350000"/>
          </a:xfrm>
        </p:grpSpPr>
        <p:sp>
          <p:nvSpPr>
            <p:cNvPr id="42" name="Freeform 4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43" name="Group 43"/>
          <p:cNvGrpSpPr/>
          <p:nvPr/>
        </p:nvGrpSpPr>
        <p:grpSpPr>
          <a:xfrm>
            <a:off x="4213199" y="8208374"/>
            <a:ext cx="85725" cy="85725"/>
            <a:chOff x="0" y="0"/>
            <a:chExt cx="6350000" cy="6350000"/>
          </a:xfrm>
        </p:grpSpPr>
        <p:sp>
          <p:nvSpPr>
            <p:cNvPr id="44" name="Freeform 4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46" name="Textfeld 45">
            <a:extLst>
              <a:ext uri="{FF2B5EF4-FFF2-40B4-BE49-F238E27FC236}">
                <a16:creationId xmlns:a16="http://schemas.microsoft.com/office/drawing/2014/main" id="{1E5A9EBE-47F0-318B-29F6-D1F5650F799E}"/>
              </a:ext>
            </a:extLst>
          </p:cNvPr>
          <p:cNvSpPr txBox="1"/>
          <p:nvPr/>
        </p:nvSpPr>
        <p:spPr>
          <a:xfrm>
            <a:off x="394584" y="10078302"/>
            <a:ext cx="8281986" cy="269817"/>
          </a:xfrm>
          <a:prstGeom prst="rect">
            <a:avLst/>
          </a:prstGeom>
          <a:noFill/>
        </p:spPr>
        <p:txBody>
          <a:bodyPr wrap="square">
            <a:spAutoFit/>
          </a:bodyPr>
          <a:lstStyle/>
          <a:p>
            <a:pPr>
              <a:lnSpc>
                <a:spcPts val="1540"/>
              </a:lnSpc>
            </a:pPr>
            <a:r>
              <a:rPr lang="en-US" sz="1100" dirty="0" err="1">
                <a:solidFill>
                  <a:srgbClr val="4D4B44"/>
                </a:solidFill>
                <a:latin typeface="Inter"/>
                <a:ea typeface="Inter"/>
                <a:cs typeface="Inter"/>
                <a:sym typeface="Inter"/>
              </a:rPr>
              <a:t>Hagenschießstraße</a:t>
            </a:r>
            <a:r>
              <a:rPr lang="en-US" sz="1100" dirty="0">
                <a:solidFill>
                  <a:srgbClr val="4D4B44"/>
                </a:solidFill>
                <a:latin typeface="Inter"/>
                <a:ea typeface="Inter"/>
                <a:cs typeface="Inter"/>
                <a:sym typeface="Inter"/>
              </a:rPr>
              <a:t> 1, 75175 Pforzheim, 01573 5474746 </a:t>
            </a:r>
            <a:r>
              <a:rPr lang="de-DE" sz="1100" noProof="0" dirty="0">
                <a:solidFill>
                  <a:srgbClr val="4D4B44"/>
                </a:solidFill>
                <a:latin typeface="Inter"/>
                <a:ea typeface="Inter"/>
                <a:cs typeface="Inter"/>
                <a:sym typeface="Inter"/>
              </a:rPr>
              <a:t>erlindamprogrammieren@gmail.com</a:t>
            </a:r>
          </a:p>
        </p:txBody>
      </p:sp>
      <p:sp>
        <p:nvSpPr>
          <p:cNvPr id="19" name="TextBox 30">
            <a:extLst>
              <a:ext uri="{FF2B5EF4-FFF2-40B4-BE49-F238E27FC236}">
                <a16:creationId xmlns:a16="http://schemas.microsoft.com/office/drawing/2014/main" id="{6044DA5F-D4EB-0A80-7F77-46CE61B84CD8}"/>
              </a:ext>
            </a:extLst>
          </p:cNvPr>
          <p:cNvSpPr txBox="1"/>
          <p:nvPr/>
        </p:nvSpPr>
        <p:spPr>
          <a:xfrm>
            <a:off x="514223" y="8427127"/>
            <a:ext cx="3531950" cy="1240661"/>
          </a:xfrm>
          <a:prstGeom prst="rect">
            <a:avLst/>
          </a:prstGeom>
        </p:spPr>
        <p:txBody>
          <a:bodyPr wrap="square" lIns="0" tIns="0" rIns="0" bIns="0" rtlCol="0" anchor="t">
            <a:spAutoFit/>
          </a:bodyPr>
          <a:lstStyle/>
          <a:p>
            <a:pPr algn="l" rtl="0">
              <a:buFont typeface="Arial" panose="020B0604020202020204" pitchFamily="34" charset="0"/>
              <a:buChar char="•"/>
            </a:pPr>
            <a:r>
              <a:rPr lang="de-DE" sz="1050" noProof="0" dirty="0">
                <a:solidFill>
                  <a:srgbClr val="4D4B44"/>
                </a:solidFill>
                <a:latin typeface="Inter" panose="020B0604020202020204" charset="0"/>
                <a:ea typeface="Inter" panose="020B0604020202020204" charset="0"/>
                <a:cs typeface="Gilda Display"/>
                <a:sym typeface="Gilda Display"/>
              </a:rPr>
              <a:t> Sprachen: Deutsch (Muttersprache), Englisch (fließend in Wort und Schrift)</a:t>
            </a:r>
            <a:endParaRPr lang="de-DE" sz="1050" dirty="0">
              <a:effectLst/>
            </a:endParaRPr>
          </a:p>
          <a:p>
            <a:pPr algn="l" rtl="0">
              <a:buFont typeface="Arial" panose="020B0604020202020204" pitchFamily="34" charset="0"/>
              <a:buChar char="•"/>
            </a:pPr>
            <a:r>
              <a:rPr lang="de-DE" sz="1050" b="0" i="0" dirty="0">
                <a:solidFill>
                  <a:srgbClr val="4D4B44"/>
                </a:solidFill>
                <a:effectLst/>
              </a:rPr>
              <a:t> </a:t>
            </a:r>
            <a:r>
              <a:rPr lang="de-DE" sz="1050" b="0" i="0" dirty="0">
                <a:solidFill>
                  <a:srgbClr val="4D4B44"/>
                </a:solidFill>
                <a:effectLst/>
                <a:latin typeface="Inter" panose="020B0604020202020204" charset="0"/>
                <a:ea typeface="Inter" panose="020B0604020202020204" charset="0"/>
              </a:rPr>
              <a:t>Programmiersprachen: C++, C, Python, C#, </a:t>
            </a:r>
            <a:r>
              <a:rPr lang="de-DE" sz="1050" b="0" i="0" dirty="0" err="1">
                <a:solidFill>
                  <a:srgbClr val="4D4B44"/>
                </a:solidFill>
                <a:effectLst/>
                <a:latin typeface="Inter" panose="020B0604020202020204" charset="0"/>
                <a:ea typeface="Inter" panose="020B0604020202020204" charset="0"/>
              </a:rPr>
              <a:t>Matlab</a:t>
            </a:r>
            <a:r>
              <a:rPr lang="de-DE" sz="1050" b="0" i="0" dirty="0">
                <a:solidFill>
                  <a:srgbClr val="4D4B44"/>
                </a:solidFill>
                <a:effectLst/>
                <a:latin typeface="Inter" panose="020B0604020202020204" charset="0"/>
                <a:ea typeface="Inter" panose="020B0604020202020204" charset="0"/>
              </a:rPr>
              <a:t>, Bash, VHDL</a:t>
            </a:r>
            <a:endParaRPr lang="de-DE" sz="1050" dirty="0">
              <a:effectLst/>
              <a:latin typeface="Inter" panose="020B0604020202020204" charset="0"/>
              <a:ea typeface="Inter" panose="020B0604020202020204" charset="0"/>
            </a:endParaRPr>
          </a:p>
          <a:p>
            <a:pPr algn="l" rtl="0">
              <a:buFont typeface="Arial" panose="020B0604020202020204" pitchFamily="34" charset="0"/>
              <a:buChar char="•"/>
            </a:pPr>
            <a:r>
              <a:rPr lang="de-DE" sz="1050" b="0" i="0" dirty="0">
                <a:solidFill>
                  <a:srgbClr val="4D4B44"/>
                </a:solidFill>
                <a:effectLst/>
                <a:latin typeface="Inter" panose="020B0604020202020204" charset="0"/>
                <a:ea typeface="Inter" panose="020B0604020202020204" charset="0"/>
              </a:rPr>
              <a:t> Tools: </a:t>
            </a:r>
            <a:r>
              <a:rPr lang="de-DE" sz="1050" b="0" i="0" dirty="0" err="1">
                <a:solidFill>
                  <a:srgbClr val="4D4B44"/>
                </a:solidFill>
                <a:effectLst/>
                <a:latin typeface="Inter" panose="020B0604020202020204" charset="0"/>
                <a:ea typeface="Inter" panose="020B0604020202020204" charset="0"/>
              </a:rPr>
              <a:t>LTSpice</a:t>
            </a:r>
            <a:r>
              <a:rPr lang="de-DE" sz="1050" b="0" i="0" dirty="0">
                <a:solidFill>
                  <a:srgbClr val="4D4B44"/>
                </a:solidFill>
                <a:effectLst/>
                <a:latin typeface="Inter" panose="020B0604020202020204" charset="0"/>
                <a:ea typeface="Inter" panose="020B0604020202020204" charset="0"/>
              </a:rPr>
              <a:t>, GIT, </a:t>
            </a:r>
            <a:r>
              <a:rPr lang="de-DE" sz="1050" b="0" i="0" dirty="0" err="1">
                <a:solidFill>
                  <a:srgbClr val="4D4B44"/>
                </a:solidFill>
                <a:effectLst/>
                <a:latin typeface="Inter" panose="020B0604020202020204" charset="0"/>
                <a:ea typeface="Inter" panose="020B0604020202020204" charset="0"/>
              </a:rPr>
              <a:t>Cmake</a:t>
            </a:r>
            <a:r>
              <a:rPr lang="de-DE" sz="1050" b="0" i="0" dirty="0">
                <a:solidFill>
                  <a:srgbClr val="4D4B44"/>
                </a:solidFill>
                <a:effectLst/>
                <a:latin typeface="Inter" panose="020B0604020202020204" charset="0"/>
                <a:ea typeface="Inter" panose="020B0604020202020204" charset="0"/>
              </a:rPr>
              <a:t>, </a:t>
            </a:r>
            <a:r>
              <a:rPr lang="de-DE" sz="1050" b="0" i="0" dirty="0" err="1">
                <a:solidFill>
                  <a:srgbClr val="4D4B44"/>
                </a:solidFill>
                <a:effectLst/>
                <a:latin typeface="Inter" panose="020B0604020202020204" charset="0"/>
                <a:ea typeface="Inter" panose="020B0604020202020204" charset="0"/>
              </a:rPr>
              <a:t>GoogleTest</a:t>
            </a:r>
            <a:r>
              <a:rPr lang="de-DE" sz="1050" b="0" i="0" dirty="0">
                <a:solidFill>
                  <a:srgbClr val="4D4B44"/>
                </a:solidFill>
                <a:effectLst/>
                <a:latin typeface="Inter" panose="020B0604020202020204" charset="0"/>
                <a:ea typeface="Inter" panose="020B0604020202020204" charset="0"/>
              </a:rPr>
              <a:t>, Visual Studio, </a:t>
            </a:r>
            <a:r>
              <a:rPr lang="de-DE" sz="1050" b="0" i="0" dirty="0" err="1">
                <a:solidFill>
                  <a:srgbClr val="4D4B44"/>
                </a:solidFill>
                <a:effectLst/>
                <a:latin typeface="Inter" panose="020B0604020202020204" charset="0"/>
                <a:ea typeface="Inter" panose="020B0604020202020204" charset="0"/>
              </a:rPr>
              <a:t>Make</a:t>
            </a:r>
            <a:endParaRPr lang="de-DE" sz="1050" b="0" i="0" dirty="0">
              <a:solidFill>
                <a:srgbClr val="4D4B44"/>
              </a:solidFill>
              <a:effectLst/>
              <a:latin typeface="Inter" panose="020B0604020202020204" charset="0"/>
              <a:ea typeface="Inter" panose="020B0604020202020204" charset="0"/>
            </a:endParaRPr>
          </a:p>
          <a:p>
            <a:pPr algn="l">
              <a:lnSpc>
                <a:spcPts val="2239"/>
              </a:lnSpc>
              <a:spcBef>
                <a:spcPct val="0"/>
              </a:spcBef>
            </a:pPr>
            <a:endParaRPr lang="de-DE" sz="1599" noProof="0" dirty="0">
              <a:solidFill>
                <a:srgbClr val="4D4B44"/>
              </a:solidFill>
              <a:latin typeface="Gilda Display"/>
              <a:ea typeface="Gilda Display"/>
              <a:cs typeface="Gilda Display"/>
              <a:sym typeface="Gilda Display"/>
            </a:endParaRPr>
          </a:p>
        </p:txBody>
      </p:sp>
      <p:sp>
        <p:nvSpPr>
          <p:cNvPr id="27" name="Textfeld 26">
            <a:extLst>
              <a:ext uri="{FF2B5EF4-FFF2-40B4-BE49-F238E27FC236}">
                <a16:creationId xmlns:a16="http://schemas.microsoft.com/office/drawing/2014/main" id="{F715FF8B-9C47-DBE4-170A-8E7CC93037EE}"/>
              </a:ext>
            </a:extLst>
          </p:cNvPr>
          <p:cNvSpPr txBox="1"/>
          <p:nvPr/>
        </p:nvSpPr>
        <p:spPr>
          <a:xfrm>
            <a:off x="332656" y="8078707"/>
            <a:ext cx="2969348" cy="338554"/>
          </a:xfrm>
          <a:prstGeom prst="rect">
            <a:avLst/>
          </a:prstGeom>
          <a:noFill/>
        </p:spPr>
        <p:txBody>
          <a:bodyPr wrap="square">
            <a:spAutoFit/>
          </a:bodyPr>
          <a:lstStyle/>
          <a:p>
            <a:pPr algn="l" rtl="0"/>
            <a:r>
              <a:rPr lang="de-DE" sz="1600" b="0" i="0" dirty="0">
                <a:solidFill>
                  <a:srgbClr val="4D4B44"/>
                </a:solidFill>
                <a:effectLst/>
                <a:latin typeface="Gilda Display" panose="020B0604020202020204" charset="0"/>
              </a:rPr>
              <a:t>Fähigkeiten und Kenntnisse</a:t>
            </a:r>
            <a:endParaRPr lang="de-DE" sz="1600" dirty="0">
              <a:effectLst/>
              <a:latin typeface="Gilda Display" panose="020B0604020202020204" charset="0"/>
            </a:endParaRPr>
          </a:p>
        </p:txBody>
      </p:sp>
      <p:pic>
        <p:nvPicPr>
          <p:cNvPr id="54" name="Grafik 53">
            <a:extLst>
              <a:ext uri="{FF2B5EF4-FFF2-40B4-BE49-F238E27FC236}">
                <a16:creationId xmlns:a16="http://schemas.microsoft.com/office/drawing/2014/main" id="{C5C85831-CA95-C6F3-C62C-21676A15511B}"/>
              </a:ext>
            </a:extLst>
          </p:cNvPr>
          <p:cNvPicPr>
            <a:picLocks noChangeAspect="1"/>
          </p:cNvPicPr>
          <p:nvPr/>
        </p:nvPicPr>
        <p:blipFill>
          <a:blip r:embed="rId2" cstate="print">
            <a:extLst>
              <a:ext uri="{28A0092B-C50C-407E-A947-70E740481C1C}">
                <a14:useLocalDpi xmlns:a14="http://schemas.microsoft.com/office/drawing/2010/main" val="0"/>
              </a:ext>
            </a:extLst>
          </a:blip>
          <a:srcRect l="15796" t="20071" r="19596" b="42874"/>
          <a:stretch>
            <a:fillRect/>
          </a:stretch>
        </p:blipFill>
        <p:spPr>
          <a:xfrm>
            <a:off x="4911523" y="233390"/>
            <a:ext cx="2037829" cy="2077786"/>
          </a:xfrm>
          <a:custGeom>
            <a:avLst/>
            <a:gdLst>
              <a:gd name="connsiteX0" fmla="*/ 1943100 w 3886200"/>
              <a:gd name="connsiteY0" fmla="*/ 0 h 3962400"/>
              <a:gd name="connsiteX1" fmla="*/ 3886200 w 3886200"/>
              <a:gd name="connsiteY1" fmla="*/ 1981200 h 3962400"/>
              <a:gd name="connsiteX2" fmla="*/ 1943100 w 3886200"/>
              <a:gd name="connsiteY2" fmla="*/ 3962400 h 3962400"/>
              <a:gd name="connsiteX3" fmla="*/ 0 w 3886200"/>
              <a:gd name="connsiteY3" fmla="*/ 1981200 h 3962400"/>
              <a:gd name="connsiteX4" fmla="*/ 1943100 w 3886200"/>
              <a:gd name="connsiteY4" fmla="*/ 0 h 396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6200" h="3962400">
                <a:moveTo>
                  <a:pt x="1943100" y="0"/>
                </a:moveTo>
                <a:cubicBezTo>
                  <a:pt x="3016244" y="0"/>
                  <a:pt x="3886200" y="887013"/>
                  <a:pt x="3886200" y="1981200"/>
                </a:cubicBezTo>
                <a:cubicBezTo>
                  <a:pt x="3886200" y="3075387"/>
                  <a:pt x="3016244" y="3962400"/>
                  <a:pt x="1943100" y="3962400"/>
                </a:cubicBezTo>
                <a:cubicBezTo>
                  <a:pt x="869956" y="3962400"/>
                  <a:pt x="0" y="3075387"/>
                  <a:pt x="0" y="1981200"/>
                </a:cubicBezTo>
                <a:cubicBezTo>
                  <a:pt x="0" y="887013"/>
                  <a:pt x="869956" y="0"/>
                  <a:pt x="1943100" y="0"/>
                </a:cubicBez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AutoShape 2"/>
          <p:cNvSpPr/>
          <p:nvPr/>
        </p:nvSpPr>
        <p:spPr>
          <a:xfrm>
            <a:off x="-416581" y="1325122"/>
            <a:ext cx="8393162" cy="0"/>
          </a:xfrm>
          <a:prstGeom prst="line">
            <a:avLst/>
          </a:prstGeom>
          <a:ln w="9525" cap="rnd">
            <a:solidFill>
              <a:srgbClr val="4D4B44"/>
            </a:solidFill>
            <a:prstDash val="solid"/>
            <a:headEnd type="none" w="sm" len="sm"/>
            <a:tailEnd type="none" w="sm" len="sm"/>
          </a:ln>
        </p:spPr>
        <p:txBody>
          <a:bodyPr/>
          <a:lstStyle/>
          <a:p>
            <a:endParaRPr lang="de-DE"/>
          </a:p>
        </p:txBody>
      </p:sp>
      <p:sp>
        <p:nvSpPr>
          <p:cNvPr id="3" name="TextBox 3"/>
          <p:cNvSpPr txBox="1"/>
          <p:nvPr/>
        </p:nvSpPr>
        <p:spPr>
          <a:xfrm>
            <a:off x="269993" y="1507649"/>
            <a:ext cx="1466850" cy="1143635"/>
          </a:xfrm>
          <a:prstGeom prst="rect">
            <a:avLst/>
          </a:prstGeom>
        </p:spPr>
        <p:txBody>
          <a:bodyPr lIns="0" tIns="0" rIns="0" bIns="0" rtlCol="0" anchor="t">
            <a:spAutoFit/>
          </a:bodyPr>
          <a:lstStyle/>
          <a:p>
            <a:pPr algn="l">
              <a:lnSpc>
                <a:spcPts val="1540"/>
              </a:lnSpc>
            </a:pPr>
            <a:r>
              <a:rPr lang="en-US" sz="1100" dirty="0">
                <a:solidFill>
                  <a:srgbClr val="4D4B44"/>
                </a:solidFill>
                <a:latin typeface="Inter"/>
                <a:ea typeface="Inter"/>
                <a:cs typeface="Inter"/>
                <a:sym typeface="Inter"/>
              </a:rPr>
              <a:t>28. Mai 2025</a:t>
            </a:r>
          </a:p>
          <a:p>
            <a:pPr algn="l">
              <a:lnSpc>
                <a:spcPts val="1540"/>
              </a:lnSpc>
            </a:pPr>
            <a:r>
              <a:rPr lang="en-US" sz="1100" dirty="0">
                <a:solidFill>
                  <a:srgbClr val="4D4B44"/>
                </a:solidFill>
                <a:latin typeface="Inter"/>
                <a:ea typeface="Inter"/>
                <a:cs typeface="Inter"/>
                <a:sym typeface="Inter"/>
              </a:rPr>
              <a:t>Erlind Sejdiu </a:t>
            </a:r>
          </a:p>
          <a:p>
            <a:pPr algn="l">
              <a:lnSpc>
                <a:spcPts val="1540"/>
              </a:lnSpc>
            </a:pPr>
            <a:r>
              <a:rPr lang="en-US" sz="1100" dirty="0">
                <a:solidFill>
                  <a:srgbClr val="4D4B44"/>
                </a:solidFill>
                <a:latin typeface="Inter"/>
                <a:ea typeface="Inter"/>
                <a:cs typeface="Inter"/>
                <a:sym typeface="Inter"/>
              </a:rPr>
              <a:t>Student</a:t>
            </a:r>
          </a:p>
          <a:p>
            <a:pPr algn="l">
              <a:lnSpc>
                <a:spcPts val="1540"/>
              </a:lnSpc>
            </a:pPr>
            <a:r>
              <a:rPr lang="en-US" sz="1100" dirty="0" err="1">
                <a:solidFill>
                  <a:srgbClr val="4D4B44"/>
                </a:solidFill>
                <a:latin typeface="Inter"/>
                <a:ea typeface="Inter"/>
                <a:cs typeface="Inter"/>
                <a:sym typeface="Inter"/>
              </a:rPr>
              <a:t>Technische</a:t>
            </a:r>
            <a:r>
              <a:rPr lang="en-US" sz="1100" dirty="0">
                <a:solidFill>
                  <a:srgbClr val="4D4B44"/>
                </a:solidFill>
                <a:latin typeface="Inter"/>
                <a:ea typeface="Inter"/>
                <a:cs typeface="Inter"/>
                <a:sym typeface="Inter"/>
              </a:rPr>
              <a:t> Informatik</a:t>
            </a:r>
          </a:p>
          <a:p>
            <a:pPr algn="l">
              <a:lnSpc>
                <a:spcPts val="1540"/>
              </a:lnSpc>
            </a:pPr>
            <a:r>
              <a:rPr lang="en-US" sz="1100" dirty="0" err="1">
                <a:solidFill>
                  <a:srgbClr val="4D4B44"/>
                </a:solidFill>
                <a:latin typeface="Inter"/>
                <a:ea typeface="Inter"/>
                <a:cs typeface="Inter"/>
                <a:sym typeface="Inter"/>
              </a:rPr>
              <a:t>Hagenschießstraße</a:t>
            </a:r>
            <a:r>
              <a:rPr lang="en-US" sz="1100" dirty="0">
                <a:solidFill>
                  <a:srgbClr val="4D4B44"/>
                </a:solidFill>
                <a:latin typeface="Inter"/>
                <a:ea typeface="Inter"/>
                <a:cs typeface="Inter"/>
                <a:sym typeface="Inter"/>
              </a:rPr>
              <a:t> 1,</a:t>
            </a:r>
          </a:p>
          <a:p>
            <a:pPr algn="l">
              <a:lnSpc>
                <a:spcPts val="1540"/>
              </a:lnSpc>
            </a:pPr>
            <a:r>
              <a:rPr lang="en-US" sz="1100" dirty="0">
                <a:solidFill>
                  <a:srgbClr val="4D4B44"/>
                </a:solidFill>
                <a:latin typeface="Inter"/>
                <a:ea typeface="Inter"/>
                <a:cs typeface="Inter"/>
                <a:sym typeface="Inter"/>
              </a:rPr>
              <a:t>75175 Pforzheim</a:t>
            </a:r>
          </a:p>
        </p:txBody>
      </p:sp>
      <p:sp>
        <p:nvSpPr>
          <p:cNvPr id="4" name="TextBox 4"/>
          <p:cNvSpPr txBox="1"/>
          <p:nvPr/>
        </p:nvSpPr>
        <p:spPr>
          <a:xfrm>
            <a:off x="2202953" y="1616645"/>
            <a:ext cx="4929713" cy="7526548"/>
          </a:xfrm>
          <a:prstGeom prst="rect">
            <a:avLst/>
          </a:prstGeom>
        </p:spPr>
        <p:txBody>
          <a:bodyPr lIns="0" tIns="0" rIns="0" bIns="0" rtlCol="0" anchor="t">
            <a:spAutoFit/>
          </a:bodyPr>
          <a:lstStyle/>
          <a:p>
            <a:pPr>
              <a:lnSpc>
                <a:spcPts val="1435"/>
              </a:lnSpc>
            </a:pPr>
            <a:r>
              <a:rPr lang="de-DE" sz="1025" b="1" dirty="0">
                <a:solidFill>
                  <a:srgbClr val="4D4B44"/>
                </a:solidFill>
                <a:latin typeface="Inter Bold"/>
                <a:ea typeface="Inter Bold"/>
                <a:cs typeface="Inter Bold"/>
                <a:sym typeface="Inter Bold"/>
              </a:rPr>
              <a:t>Sehr geehrte Damen und Herren,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Durch die Karrieremesse „X-Days“ an der Hochschule Pforzheim bin ich auf die Schwarz IT aufmerksam geworden. Derzeit studiere ich technische Informatik an der Hochschule Pforzheim und befinde mich im sechsten Bachelorsemester. Im kommenden Wintersemester plane ich meine Bachelorarbeit zu schreiben, die ich gerne bei Schwarz IT verfassen würde.</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Mein Studium legt den Schwerpunkt auf die Bereiche Embedded Softwareentwicklung und Software Engineering. In diesen Bereichen habe ich im Laufe meiner studentischen Karriere an verschiedenen C und C++ Softwareprojekten mitgearbeitet, z.B. Aktienanalyse-Tool oder </a:t>
            </a:r>
            <a:r>
              <a:rPr lang="de-DE" sz="1025" b="1" dirty="0" err="1">
                <a:solidFill>
                  <a:srgbClr val="4D4B44"/>
                </a:solidFill>
                <a:latin typeface="Inter Bold"/>
                <a:ea typeface="Inter Bold"/>
                <a:cs typeface="Inter Bold"/>
                <a:sym typeface="Inter Bold"/>
              </a:rPr>
              <a:t>Vectrex</a:t>
            </a:r>
            <a:r>
              <a:rPr lang="de-DE" sz="1025" b="1" dirty="0">
                <a:solidFill>
                  <a:srgbClr val="4D4B44"/>
                </a:solidFill>
                <a:latin typeface="Inter Bold"/>
                <a:ea typeface="Inter Bold"/>
                <a:cs typeface="Inter Bold"/>
                <a:sym typeface="Inter Bold"/>
              </a:rPr>
              <a:t>-Applikation. Hervorzuheben ist mein Praxissemester bei einem Automotive-Unternehmen, in dem ich an einem Projekt zu Software-</a:t>
            </a:r>
            <a:r>
              <a:rPr lang="de-DE" sz="1025" b="1" dirty="0" err="1">
                <a:solidFill>
                  <a:srgbClr val="4D4B44"/>
                </a:solidFill>
                <a:latin typeface="Inter Bold"/>
                <a:ea typeface="Inter Bold"/>
                <a:cs typeface="Inter Bold"/>
                <a:sym typeface="Inter Bold"/>
              </a:rPr>
              <a:t>defined</a:t>
            </a:r>
            <a:r>
              <a:rPr lang="de-DE" sz="1025" b="1" dirty="0">
                <a:solidFill>
                  <a:srgbClr val="4D4B44"/>
                </a:solidFill>
                <a:latin typeface="Inter Bold"/>
                <a:ea typeface="Inter Bold"/>
                <a:cs typeface="Inter Bold"/>
                <a:sym typeface="Inter Bold"/>
              </a:rPr>
              <a:t> Networking mitgearbeitet habe und dabei in einem größerem Embedded-C-Projekt eingebunden war. Währenddessen konnte ich praktische Erfahrung in der C-Programmierung sammeln und meine Fähigkeiten in der Projektplanung ausbauen.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Aktuell arbeite ich an einer Projektarbeit zu dem Thema Software </a:t>
            </a:r>
            <a:r>
              <a:rPr lang="de-DE" sz="1025" b="1" dirty="0" err="1">
                <a:solidFill>
                  <a:srgbClr val="4D4B44"/>
                </a:solidFill>
                <a:latin typeface="Inter Bold"/>
                <a:ea typeface="Inter Bold"/>
                <a:cs typeface="Inter Bold"/>
                <a:sym typeface="Inter Bold"/>
              </a:rPr>
              <a:t>Defined</a:t>
            </a:r>
            <a:r>
              <a:rPr lang="de-DE" sz="1025" b="1" dirty="0">
                <a:solidFill>
                  <a:srgbClr val="4D4B44"/>
                </a:solidFill>
                <a:latin typeface="Inter Bold"/>
                <a:ea typeface="Inter Bold"/>
                <a:cs typeface="Inter Bold"/>
                <a:sym typeface="Inter Bold"/>
              </a:rPr>
              <a:t> Vehicle (SDV). Ziel ist es, ein komplexes C-Softwareprojekt sauber aufzusetzen und neue Schnittstellen einzuführen, um so die Komplexität zu reduzieren. Dadurch soll eine modulare und besser wartbare Architektur entstehen, sodass auf diese Projektarbeiten neue Projekte aufgesetzt werden können.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Währenddessen arbeite ich als wissenschaftliche Hilfskraft im Software Engineering 2  Labor, wo ich bei der Durchführung der Veranstaltungen helfe. Dabei beschäftige ich mich unter anderem mit dem systematischen Testen von Software und bringe mein Wissen aktiv ein.</a:t>
            </a:r>
            <a:br>
              <a:rPr lang="de-DE" sz="1025" b="1" dirty="0">
                <a:solidFill>
                  <a:srgbClr val="4D4B44"/>
                </a:solidFill>
                <a:latin typeface="Inter Bold"/>
                <a:ea typeface="Inter Bold"/>
                <a:cs typeface="Inter Bold"/>
                <a:sym typeface="Inter Bold"/>
              </a:rPr>
            </a:b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Ich bin hochmotiviert, meine technischen Fähigkeiten und meine Erfahrungen in einem innovativen Umfeld einzusetzen und bin zuversichtlich, dass ich mit meinem Fachwissen und meiner Lernbereitschaft eine wertvolle Bereicherung für Ihr Team bei Schwarz IT sein werde. Ich freue mich auf die Gelegenheit, Sie in einem persönlichen Gespräch von meiner Motivation und meinen Fähigkeiten zu überzeugen.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Mit freundlichen Grüßen,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Erlind Sejdiu</a:t>
            </a:r>
            <a:endParaRPr lang="en-US" sz="1025" b="1" dirty="0">
              <a:solidFill>
                <a:srgbClr val="4D4B44"/>
              </a:solidFill>
              <a:latin typeface="Inter Bold"/>
              <a:ea typeface="Inter Bold"/>
              <a:cs typeface="Inter Bold"/>
              <a:sym typeface="Inter Bold"/>
            </a:endParaRPr>
          </a:p>
        </p:txBody>
      </p:sp>
      <p:sp>
        <p:nvSpPr>
          <p:cNvPr id="5" name="AutoShape 5"/>
          <p:cNvSpPr/>
          <p:nvPr/>
        </p:nvSpPr>
        <p:spPr>
          <a:xfrm>
            <a:off x="-303970" y="9626501"/>
            <a:ext cx="8167941" cy="0"/>
          </a:xfrm>
          <a:prstGeom prst="line">
            <a:avLst/>
          </a:prstGeom>
          <a:ln w="9525" cap="rnd">
            <a:solidFill>
              <a:srgbClr val="4D4B44"/>
            </a:solidFill>
            <a:prstDash val="solid"/>
            <a:headEnd type="none" w="sm" len="sm"/>
            <a:tailEnd type="none" w="sm" len="sm"/>
          </a:ln>
        </p:spPr>
        <p:txBody>
          <a:bodyPr/>
          <a:lstStyle/>
          <a:p>
            <a:endParaRPr lang="de-DE"/>
          </a:p>
        </p:txBody>
      </p:sp>
      <p:sp>
        <p:nvSpPr>
          <p:cNvPr id="7" name="AutoShape 7"/>
          <p:cNvSpPr/>
          <p:nvPr/>
        </p:nvSpPr>
        <p:spPr>
          <a:xfrm>
            <a:off x="1955119" y="1329885"/>
            <a:ext cx="0" cy="9438891"/>
          </a:xfrm>
          <a:prstGeom prst="line">
            <a:avLst/>
          </a:prstGeom>
          <a:ln w="9525" cap="rnd">
            <a:solidFill>
              <a:srgbClr val="4D4B44"/>
            </a:solidFill>
            <a:prstDash val="solid"/>
            <a:headEnd type="none" w="sm" len="sm"/>
            <a:tailEnd type="none" w="sm" len="sm"/>
          </a:ln>
        </p:spPr>
        <p:txBody>
          <a:bodyPr/>
          <a:lstStyle/>
          <a:p>
            <a:endParaRPr lang="de-DE"/>
          </a:p>
        </p:txBody>
      </p:sp>
      <p:sp>
        <p:nvSpPr>
          <p:cNvPr id="8" name="TextBox 8"/>
          <p:cNvSpPr txBox="1"/>
          <p:nvPr/>
        </p:nvSpPr>
        <p:spPr>
          <a:xfrm>
            <a:off x="408715" y="365878"/>
            <a:ext cx="4182996" cy="651891"/>
          </a:xfrm>
          <a:prstGeom prst="rect">
            <a:avLst/>
          </a:prstGeom>
        </p:spPr>
        <p:txBody>
          <a:bodyPr lIns="0" tIns="0" rIns="0" bIns="0" rtlCol="0" anchor="t">
            <a:spAutoFit/>
          </a:bodyPr>
          <a:lstStyle/>
          <a:p>
            <a:pPr algn="l">
              <a:lnSpc>
                <a:spcPts val="5082"/>
              </a:lnSpc>
            </a:pPr>
            <a:r>
              <a:rPr lang="en-US" sz="4200">
                <a:solidFill>
                  <a:srgbClr val="4D4B44"/>
                </a:solidFill>
                <a:latin typeface="Gilda Display"/>
                <a:ea typeface="Gilda Display"/>
                <a:cs typeface="Gilda Display"/>
                <a:sym typeface="Gilda Display"/>
              </a:rPr>
              <a:t>Erlind Sejdiu</a:t>
            </a:r>
          </a:p>
        </p:txBody>
      </p:sp>
      <p:sp>
        <p:nvSpPr>
          <p:cNvPr id="10" name="Textfeld 9">
            <a:extLst>
              <a:ext uri="{FF2B5EF4-FFF2-40B4-BE49-F238E27FC236}">
                <a16:creationId xmlns:a16="http://schemas.microsoft.com/office/drawing/2014/main" id="{ED99F708-C1B3-F185-E9E2-5D44949C2CE5}"/>
              </a:ext>
            </a:extLst>
          </p:cNvPr>
          <p:cNvSpPr txBox="1"/>
          <p:nvPr/>
        </p:nvSpPr>
        <p:spPr>
          <a:xfrm>
            <a:off x="1950356" y="9769111"/>
            <a:ext cx="4418689" cy="465192"/>
          </a:xfrm>
          <a:prstGeom prst="rect">
            <a:avLst/>
          </a:prstGeom>
          <a:noFill/>
        </p:spPr>
        <p:txBody>
          <a:bodyPr wrap="square">
            <a:spAutoFit/>
          </a:bodyPr>
          <a:lstStyle/>
          <a:p>
            <a:pPr>
              <a:lnSpc>
                <a:spcPts val="1540"/>
              </a:lnSpc>
            </a:pPr>
            <a:r>
              <a:rPr lang="en-US" sz="1200" dirty="0" err="1">
                <a:solidFill>
                  <a:srgbClr val="4D4B44"/>
                </a:solidFill>
                <a:latin typeface="Inter"/>
                <a:ea typeface="Inter"/>
                <a:cs typeface="Inter"/>
                <a:sym typeface="Inter"/>
              </a:rPr>
              <a:t>Hagenschießstraße</a:t>
            </a:r>
            <a:r>
              <a:rPr lang="en-US" sz="1200" dirty="0">
                <a:solidFill>
                  <a:srgbClr val="4D4B44"/>
                </a:solidFill>
                <a:latin typeface="Inter"/>
                <a:ea typeface="Inter"/>
                <a:cs typeface="Inter"/>
                <a:sym typeface="Inter"/>
              </a:rPr>
              <a:t> 1, 75175 Pforzheim, 01573 5474746 </a:t>
            </a:r>
            <a:r>
              <a:rPr lang="de-DE" sz="1200" noProof="0" dirty="0">
                <a:solidFill>
                  <a:srgbClr val="4D4B44"/>
                </a:solidFill>
                <a:latin typeface="Inter"/>
                <a:ea typeface="Inter"/>
                <a:cs typeface="Inter"/>
                <a:sym typeface="Inter"/>
              </a:rPr>
              <a:t>erlindamprogrammieren@gmail.com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0D750D30FF6E14F816D8265572E1CA4" ma:contentTypeVersion="6" ma:contentTypeDescription="Ein neues Dokument erstellen." ma:contentTypeScope="" ma:versionID="0dacab73f6fa3ac467f9db3a4ece0f34">
  <xsd:schema xmlns:xsd="http://www.w3.org/2001/XMLSchema" xmlns:xs="http://www.w3.org/2001/XMLSchema" xmlns:p="http://schemas.microsoft.com/office/2006/metadata/properties" xmlns:ns3="e8ba53ba-661c-4527-a9e6-bd0df8ca1067" targetNamespace="http://schemas.microsoft.com/office/2006/metadata/properties" ma:root="true" ma:fieldsID="2c24c808b3dca70a34cc07e45e23972a" ns3:_="">
    <xsd:import namespace="e8ba53ba-661c-4527-a9e6-bd0df8ca1067"/>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ba53ba-661c-4527-a9e6-bd0df8ca10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8ba53ba-661c-4527-a9e6-bd0df8ca1067" xsi:nil="true"/>
  </documentManagement>
</p:properties>
</file>

<file path=customXml/itemProps1.xml><?xml version="1.0" encoding="utf-8"?>
<ds:datastoreItem xmlns:ds="http://schemas.openxmlformats.org/officeDocument/2006/customXml" ds:itemID="{F246B539-14D8-43C2-AA87-D889D1FA7D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ba53ba-661c-4527-a9e6-bd0df8ca10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05CE7CE-46CC-43E8-B48A-010F831CCA3B}">
  <ds:schemaRefs>
    <ds:schemaRef ds:uri="http://schemas.microsoft.com/sharepoint/v3/contenttype/forms"/>
  </ds:schemaRefs>
</ds:datastoreItem>
</file>

<file path=customXml/itemProps3.xml><?xml version="1.0" encoding="utf-8"?>
<ds:datastoreItem xmlns:ds="http://schemas.openxmlformats.org/officeDocument/2006/customXml" ds:itemID="{9A3FC9C4-3DD3-4C2F-9C12-1B1A69A986EF}">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e8ba53ba-661c-4527-a9e6-bd0df8ca106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643</Words>
  <Application>Microsoft Office PowerPoint</Application>
  <PresentationFormat>Benutzerdefiniert</PresentationFormat>
  <Paragraphs>63</Paragraphs>
  <Slides>2</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vt:i4>
      </vt:variant>
    </vt:vector>
  </HeadingPairs>
  <TitlesOfParts>
    <vt:vector size="8" baseType="lpstr">
      <vt:lpstr>Inter</vt:lpstr>
      <vt:lpstr>Inter Bold</vt:lpstr>
      <vt:lpstr>Gilda Display</vt:lpstr>
      <vt:lpstr>Arial</vt:lpstr>
      <vt:lpstr>Calibri</vt:lpstr>
      <vt:lpstr>Office Theme</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und Braun Monoton Digital Marketing Lebenslauf</dc:title>
  <dc:creator>Erlind Sejdiu</dc:creator>
  <cp:lastModifiedBy>Erlind Sejdiu</cp:lastModifiedBy>
  <cp:revision>22</cp:revision>
  <dcterms:created xsi:type="dcterms:W3CDTF">2006-08-16T00:00:00Z</dcterms:created>
  <dcterms:modified xsi:type="dcterms:W3CDTF">2025-06-05T15:49:17Z</dcterms:modified>
  <dc:identifier>DAGowEuJO3w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0x01010030D750D30FF6E14F816D8265572E1CA4</vt:lpwstr>
  </property>
</Properties>
</file>